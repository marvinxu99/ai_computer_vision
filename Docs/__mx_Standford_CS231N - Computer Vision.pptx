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C1662-4E4B-A1F3-2E92-7836577EB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4B9E39-5F3E-0F9B-56E5-3CD5971264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380A1-D9DA-5468-079B-CE8E0B747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A70A0-5986-1C48-4486-A60DCD37E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61EE0-0018-5C00-45A7-A02BD215C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9133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89F76-AA8E-F636-1540-74E2DA7DF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4F8CC-5530-A3AE-7882-3A8AA62BB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D7AA6-4774-8652-3EFA-ED65318CC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D8371-698F-59AE-C217-525FC78F1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EA87F-47B3-2187-962F-B320A836F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56126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4B9-61ED-852C-504D-237ACD24F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186F6-2273-72F8-0418-93CAFE79B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CB5DD-3828-64D5-1419-AF9FA55FE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89C86-2240-1439-3D20-F3426897A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A05CD1-33E7-ED1E-2B47-2E5DB6677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1621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FD701-EF89-2B4E-E984-785FA9F6D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E7094-F51E-E5DA-AE4F-683729B5A1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74401-2F62-AAB9-F2C2-84AEEFDB4B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56FDB-D3D9-BED2-69FC-16025EBF9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026B6-3541-8F5C-9C13-AFC187E46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1154B-9554-81EA-A135-42DAF57DE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994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9D6A8-E865-47FB-492C-B1DB8EE47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C452E-7336-A5FB-9BD4-0B8AD6BF4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67E3-D6D9-F2DA-B479-AA03AB486A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546B7F-F81E-42B9-7C6F-2FF1FE922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4E541E-F4AF-0323-4541-FC5B30E8F4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F1B3ED-26B1-FA88-0DFB-6012FA530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7BFC12-1544-89F2-FEAC-7C37CC587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BE06D-2F2E-BC6A-40BE-C6150C4BE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8190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9D882-4A98-FCFF-398B-A51202FCE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BA4D80-3BC7-BC63-6EE1-00DE7ACDF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D70D37-05A6-75B7-43AB-CC11CF41F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BD543-095C-6D24-11F6-C14BFBB51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5387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EA6F8A-EA9B-5315-0CE0-E89557E8F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C61EDC-6280-6863-2BD8-DEBE9442A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658EA2-48D6-D3EC-02EB-E9F2067AB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2641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6EF62-E8C3-762D-2758-9B8A555B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37BE6-13C1-AEF0-147E-32FAE8043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543E1-EDC4-73E5-754D-FF15B5E9C1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682AAF-6D2E-773D-BA90-9376F609B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FABDE-9392-B088-6CB6-8ECFC81D2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49DFD-7174-33D3-98D2-F7B2B6BC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922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6FE6E-1410-D69F-64EC-AD292D468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624E4F-0351-0E58-B865-2E879F60CE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5446EB-DA07-76A0-7EBD-31D33177CC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8EAA7F-6A3A-5950-CD3F-0127D3FAF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83718D-890A-C84A-3555-975BE54D2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69EFE9-268C-5E65-3D8D-292F73E88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3554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A3FC6-D591-BBB7-B07D-96B42978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A6A6AD-44C1-21A2-80BF-7EA6D53206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134786-0F98-8859-FC8D-4B4143A58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08D9F-06CA-628C-B3A9-C2B1BD250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140BF-7EA5-944A-4FD1-49BBFCFFE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2479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2A563D-0654-C835-9053-D0D5D0B60D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9A138E-E978-CEB3-B87C-C3A1A7AD2C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FBDB6-BC29-6AB9-9A2C-CB338765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693EF-D93A-2CBD-9842-2FEEC29F2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357D7-35A0-C384-1057-5B085A475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80304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5C1FFE-579E-D572-201F-AEC5D829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690A9-D1ED-930C-57B6-83E662D2C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50D98-B95C-E237-5FB4-8F21A0397F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702ED-90B3-4B6D-8097-8FF558A77AD0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6BC0B-786A-4D55-3283-BCE3E74BD8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183225-599C-EC74-37EF-308A6BB3E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2715B-C6E0-4E1D-AE98-224D6144774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5096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image-net.org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C5A01-76EA-61A2-BA64-E699E879C1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Stanford CS231N Deep Learning for Computer Vision I 2025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69A9CA-60B8-A390-A94F-6B0B13E907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Notes</a:t>
            </a:r>
          </a:p>
        </p:txBody>
      </p:sp>
    </p:spTree>
    <p:extLst>
      <p:ext uri="{BB962C8B-B14F-4D97-AF65-F5344CB8AC3E}">
        <p14:creationId xmlns:p14="http://schemas.microsoft.com/office/powerpoint/2010/main" val="2147996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BBFA8-DBCB-A9AF-7648-EDA9832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Lecture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EFA2C-58E8-5993-ABBA-C76D939F1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This lecture covers: </a:t>
            </a:r>
          </a:p>
          <a:p>
            <a:pPr lvl="1"/>
            <a:r>
              <a:rPr lang="en-US" dirty="0"/>
              <a:t>Computer vision overview </a:t>
            </a:r>
          </a:p>
          <a:p>
            <a:pPr lvl="2"/>
            <a:r>
              <a:rPr lang="en-US" dirty="0"/>
              <a:t>ImageNet - </a:t>
            </a:r>
            <a:r>
              <a:rPr lang="en-US" dirty="0">
                <a:hlinkClick r:id="rId2"/>
              </a:rPr>
              <a:t>https://image-net.org/</a:t>
            </a:r>
            <a:endParaRPr lang="en-US" dirty="0"/>
          </a:p>
          <a:p>
            <a:endParaRPr lang="en-CA" dirty="0"/>
          </a:p>
          <a:p>
            <a:pPr>
              <a:buFont typeface="Wingdings" panose="05000000000000000000" pitchFamily="2" charset="2"/>
              <a:buChar char="q"/>
            </a:pPr>
            <a:r>
              <a:rPr lang="en-CA" dirty="0"/>
              <a:t>Topics:</a:t>
            </a:r>
          </a:p>
          <a:p>
            <a:pPr lvl="1"/>
            <a:r>
              <a:rPr lang="en-CA" dirty="0"/>
              <a:t>Deep learning basics</a:t>
            </a:r>
          </a:p>
          <a:p>
            <a:pPr lvl="1"/>
            <a:r>
              <a:rPr lang="en-CA" dirty="0"/>
              <a:t>Perceiving and understanding the visual world</a:t>
            </a:r>
          </a:p>
          <a:p>
            <a:pPr lvl="1"/>
            <a:r>
              <a:rPr lang="en-CA" dirty="0"/>
              <a:t>Generative and interactive visual intelligence</a:t>
            </a:r>
          </a:p>
          <a:p>
            <a:pPr lvl="1"/>
            <a:r>
              <a:rPr lang="en-CA" dirty="0"/>
              <a:t>Human-centered applications and implications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329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CAC28-D3A7-FCD7-D56B-CEE9064E1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Lecture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EA66A-E0C5-3B80-3375-F361FAB6B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CA" dirty="0"/>
              <a:t>Image classification – a core task in computer vision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CA" dirty="0"/>
              <a:t>Linear classifier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CA" dirty="0"/>
              <a:t>Regularization &amp; Optimization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CA" dirty="0"/>
              <a:t>Neural Networks</a:t>
            </a:r>
          </a:p>
          <a:p>
            <a:pPr lvl="1"/>
            <a:endParaRPr lang="en-CA" dirty="0"/>
          </a:p>
          <a:p>
            <a:pPr>
              <a:buFont typeface="Wingdings" panose="05000000000000000000" pitchFamily="2" charset="2"/>
              <a:buChar char="q"/>
            </a:pPr>
            <a:r>
              <a:rPr lang="en-CA" dirty="0"/>
              <a:t>Perceiving and understanding the visual world</a:t>
            </a:r>
          </a:p>
          <a:p>
            <a:pPr lvl="1"/>
            <a:r>
              <a:rPr lang="en-CA" dirty="0"/>
              <a:t>Tasks  ----- Models</a:t>
            </a:r>
          </a:p>
          <a:p>
            <a:pPr lvl="1"/>
            <a:r>
              <a:rPr lang="en-CA" dirty="0"/>
              <a:t>Tasks beyond image classification</a:t>
            </a:r>
          </a:p>
          <a:p>
            <a:pPr lvl="2"/>
            <a:r>
              <a:rPr lang="en-CA" dirty="0"/>
              <a:t>Semantic segmentation  (sky, grass, tree, cat…)</a:t>
            </a:r>
          </a:p>
          <a:p>
            <a:pPr lvl="2"/>
            <a:r>
              <a:rPr lang="en-CA" dirty="0"/>
              <a:t>Object detection </a:t>
            </a:r>
          </a:p>
          <a:p>
            <a:pPr lvl="2"/>
            <a:r>
              <a:rPr lang="en-CA" dirty="0"/>
              <a:t>Instance segmentation</a:t>
            </a:r>
          </a:p>
          <a:p>
            <a:pPr lvl="2"/>
            <a:r>
              <a:rPr lang="en-CA" dirty="0"/>
              <a:t>Video classification</a:t>
            </a:r>
          </a:p>
          <a:p>
            <a:pPr lvl="2"/>
            <a:r>
              <a:rPr lang="en-CA" dirty="0"/>
              <a:t>Multimodal video understanding</a:t>
            </a:r>
          </a:p>
          <a:p>
            <a:pPr lvl="2"/>
            <a:r>
              <a:rPr lang="en-CA" dirty="0"/>
              <a:t>Visualization &amp;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11412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C327C-D7CD-0652-87A0-EB8FF22BF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4068"/>
            <a:ext cx="10515600" cy="1325563"/>
          </a:xfrm>
        </p:spPr>
        <p:txBody>
          <a:bodyPr/>
          <a:lstStyle/>
          <a:p>
            <a:r>
              <a:rPr lang="en-CA" dirty="0"/>
              <a:t>Lecture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670ED-D4E4-674C-6990-3C3233A2B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4246"/>
            <a:ext cx="10515600" cy="4832717"/>
          </a:xfrm>
        </p:spPr>
        <p:txBody>
          <a:bodyPr>
            <a:normAutofit/>
          </a:bodyPr>
          <a:lstStyle/>
          <a:p>
            <a:r>
              <a:rPr lang="en-CA" dirty="0"/>
              <a:t>Models beyond multi-layer perception</a:t>
            </a:r>
          </a:p>
          <a:p>
            <a:r>
              <a:rPr lang="en-CA" dirty="0"/>
              <a:t>Large scale distributed training</a:t>
            </a:r>
          </a:p>
          <a:p>
            <a:pPr lvl="1"/>
            <a:r>
              <a:rPr lang="en-CA" dirty="0"/>
              <a:t>Data parallelism</a:t>
            </a:r>
          </a:p>
          <a:p>
            <a:pPr lvl="1"/>
            <a:r>
              <a:rPr lang="en-CA" dirty="0"/>
              <a:t>Model parallelism</a:t>
            </a:r>
          </a:p>
          <a:p>
            <a:pPr lvl="1"/>
            <a:r>
              <a:rPr lang="en-CA" dirty="0"/>
              <a:t>Synchronous vs. Asynchronous gradient update.</a:t>
            </a:r>
          </a:p>
          <a:p>
            <a:r>
              <a:rPr lang="en-CA" dirty="0"/>
              <a:t>Self-supervised learning</a:t>
            </a:r>
          </a:p>
          <a:p>
            <a:r>
              <a:rPr lang="en-CA" dirty="0"/>
              <a:t>Generative modeling</a:t>
            </a:r>
          </a:p>
          <a:p>
            <a:r>
              <a:rPr lang="en-CA" dirty="0"/>
              <a:t>Image generation using diffusion models</a:t>
            </a:r>
          </a:p>
          <a:p>
            <a:r>
              <a:rPr lang="en-CA" dirty="0"/>
              <a:t>Vision language models</a:t>
            </a:r>
          </a:p>
          <a:p>
            <a:r>
              <a:rPr lang="en-CA" dirty="0"/>
              <a:t>3D vision – robotics </a:t>
            </a:r>
          </a:p>
        </p:txBody>
      </p:sp>
    </p:spTree>
    <p:extLst>
      <p:ext uri="{BB962C8B-B14F-4D97-AF65-F5344CB8AC3E}">
        <p14:creationId xmlns:p14="http://schemas.microsoft.com/office/powerpoint/2010/main" val="1938953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768D8-678B-7C46-D30E-6C910C6C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509274F-DFAE-AABE-69C3-23518C98C3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4818" y="262548"/>
            <a:ext cx="11199181" cy="60777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65AFFA-CB04-CF16-7FDD-D7C6CB1A2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9347"/>
            <a:ext cx="12192000" cy="61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702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77600-EDC3-0A2B-4478-713740A2D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Lecture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7E2D3-67ED-064F-91FD-ACF8AC140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Image Classification with Linear Classifiers</a:t>
            </a:r>
          </a:p>
          <a:p>
            <a:pPr lvl="1"/>
            <a:r>
              <a:rPr lang="en-CA" dirty="0"/>
              <a:t>K-nearest neighbour and linear classifier</a:t>
            </a:r>
          </a:p>
          <a:p>
            <a:pPr lvl="1"/>
            <a:endParaRPr lang="en-CA" dirty="0"/>
          </a:p>
          <a:p>
            <a:r>
              <a:rPr lang="en-CA" dirty="0"/>
              <a:t>An Image is a tensor of </a:t>
            </a:r>
            <a:r>
              <a:rPr lang="en-CA" dirty="0" err="1"/>
              <a:t>intergers</a:t>
            </a:r>
            <a:r>
              <a:rPr lang="en-CA" dirty="0"/>
              <a:t> between [0, 255], 3 channel RGB</a:t>
            </a:r>
          </a:p>
          <a:p>
            <a:pPr lvl="1"/>
            <a:r>
              <a:rPr lang="en-CA" dirty="0"/>
              <a:t>All changed if camera moved (view point changed)</a:t>
            </a:r>
          </a:p>
          <a:p>
            <a:pPr lvl="1"/>
            <a:r>
              <a:rPr lang="en-CA" dirty="0"/>
              <a:t>Illumination changes</a:t>
            </a:r>
          </a:p>
          <a:p>
            <a:pPr lvl="1"/>
            <a:r>
              <a:rPr lang="en-CA" dirty="0"/>
              <a:t>Background clutter</a:t>
            </a:r>
          </a:p>
          <a:p>
            <a:pPr lvl="1"/>
            <a:r>
              <a:rPr lang="en-CA" dirty="0"/>
              <a:t>Zoom in &amp; out (scale)</a:t>
            </a:r>
          </a:p>
          <a:p>
            <a:pPr lvl="1"/>
            <a:r>
              <a:rPr lang="en-CA" dirty="0"/>
              <a:t>Occlusion  (hide under a blanket, under coach </a:t>
            </a:r>
            <a:r>
              <a:rPr lang="en-CA" dirty="0" err="1"/>
              <a:t>cusion</a:t>
            </a:r>
            <a:r>
              <a:rPr lang="en-CA" dirty="0"/>
              <a:t>)</a:t>
            </a:r>
          </a:p>
          <a:p>
            <a:pPr lvl="1"/>
            <a:r>
              <a:rPr lang="en-CA" dirty="0"/>
              <a:t>Deformation</a:t>
            </a:r>
          </a:p>
          <a:p>
            <a:pPr lvl="1"/>
            <a:r>
              <a:rPr lang="en-CA"/>
              <a:t>Intraclass variation</a:t>
            </a:r>
            <a:endParaRPr lang="en-CA" dirty="0"/>
          </a:p>
          <a:p>
            <a:pPr lvl="1"/>
            <a:r>
              <a:rPr lang="en-CA" dirty="0"/>
              <a:t>Context</a:t>
            </a:r>
          </a:p>
          <a:p>
            <a:pPr marL="457200" lvl="1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55681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202</Words>
  <Application>Microsoft Office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Theme</vt:lpstr>
      <vt:lpstr>Stanford CS231N Deep Learning for Computer Vision I 2025</vt:lpstr>
      <vt:lpstr>Lecture 1</vt:lpstr>
      <vt:lpstr>Lecture 1</vt:lpstr>
      <vt:lpstr>Lecture 1</vt:lpstr>
      <vt:lpstr>PowerPoint Presentation</vt:lpstr>
      <vt:lpstr>Lecture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Xu, Maojiu [VCH]</dc:creator>
  <cp:lastModifiedBy>Xu, Maojiu [VCH]</cp:lastModifiedBy>
  <cp:revision>5</cp:revision>
  <dcterms:created xsi:type="dcterms:W3CDTF">2025-11-16T03:16:49Z</dcterms:created>
  <dcterms:modified xsi:type="dcterms:W3CDTF">2025-11-17T01:25:17Z</dcterms:modified>
</cp:coreProperties>
</file>